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Total Loan Amount Disbursed by Loan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Loan Amount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</c:v>
                  </c:pt>
                  <c:pt idx="1">
                    <c:v>Education</c:v>
                  </c:pt>
                  <c:pt idx="2">
                    <c:v>Home</c:v>
                  </c:pt>
                  <c:pt idx="3">
                    <c:v>Personal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24250000</c:v>
                </c:pt>
                <c:pt idx="1">
                  <c:v>18800000</c:v>
                </c:pt>
                <c:pt idx="2">
                  <c:v>28050000</c:v>
                </c:pt>
                <c:pt idx="3">
                  <c:v>15200000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3F4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Loan Count Distribution by Branch (Pivot Chart)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Loan_ID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B4A9E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6C8AE4"/>
              </a:solidFill>
              <a:effectLst/>
            </c:spPr>
          </c:dPt>
          <c:dPt>
            <c:idx val="4"/>
            <c:bubble3D val="0"/>
            <c:spPr>
              <a:solidFill>
                <a:srgbClr val="8FA8F0"/>
              </a:solidFill>
              <a:effectLst/>
            </c:spPr>
          </c:dPt>
          <c:dPt>
            <c:idx val="5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Delhi</c:v>
                </c:pt>
                <c:pt idx="1">
                  <c:v>Jaipur</c:v>
                </c:pt>
                <c:pt idx="2">
                  <c:v>Kolkata</c:v>
                </c:pt>
                <c:pt idx="3">
                  <c:v>Lucknow</c:v>
                </c:pt>
                <c:pt idx="4">
                  <c:v>Mumbai</c:v>
                </c:pt>
                <c:pt idx="5">
                  <c:v>Pune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18</c:v>
                </c:pt>
                <c:pt idx="1">
                  <c:v>11</c:v>
                </c:pt>
                <c:pt idx="2">
                  <c:v>22</c:v>
                </c:pt>
                <c:pt idx="3">
                  <c:v>20</c:v>
                </c:pt>
                <c:pt idx="4">
                  <c:v>16</c:v>
                </c:pt>
                <c:pt idx="5">
                  <c:v>13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A64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Principal vs. Interest Share Over the Loan Term (% of EMI)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Interest Paid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5</c:v>
                  </c:pt>
                  <c:pt idx="2">
                    <c:v>Yr 10</c:v>
                  </c:pt>
                  <c:pt idx="3">
                    <c:v>Yr 15</c:v>
                  </c:pt>
                  <c:pt idx="4">
                    <c:v>Yr 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94.9</c:v>
                </c:pt>
                <c:pt idx="1">
                  <c:v>84.5</c:v>
                </c:pt>
                <c:pt idx="2">
                  <c:v>66</c:v>
                </c:pt>
                <c:pt idx="3">
                  <c:v>39.5</c:v>
                </c:pt>
                <c:pt idx="4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Principal Paid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5</c:v>
                  </c:pt>
                  <c:pt idx="2">
                    <c:v>Yr 10</c:v>
                  </c:pt>
                  <c:pt idx="3">
                    <c:v>Yr 15</c:v>
                  </c:pt>
                  <c:pt idx="4">
                    <c:v>Yr 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5.1</c:v>
                </c:pt>
                <c:pt idx="1">
                  <c:v>15.5</c:v>
                </c:pt>
                <c:pt idx="2">
                  <c:v>34</c:v>
                </c:pt>
                <c:pt idx="3">
                  <c:v>60.5</c:v>
                </c:pt>
                <c:pt idx="4">
                  <c:v>97.5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3F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4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Kaggle Data to a Live EMI Amortization Calculator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•  Pivot Tables &amp; Charts  •  Loan EMI &amp; Amortization Modeling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177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Loan Portfolio  |  100 Customer Records  |  5 Branches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One Working Loan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3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 banking loan dataset from Kaggle — customer names, loan type, amount, rate, tenure, branch.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36392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9312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3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39312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39312" y="329184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ISBLANK checks, TRIM, UPPER and PROPER functions to standardize and validate every field.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98464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1384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3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01384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&amp; Chart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01384" y="329184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loans by Type and Branch — totals, counts, EMI, interest — and visualized with pivot charts.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60536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34856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63456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363456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Calculator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63456" y="329184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lookup-driven EMI calculator with a full month-by-month amortization schedule.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Workflow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Fetching the Dataset from Kaggle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Loan dataset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downloaded from Kaggle as a CSV and imported into Excel as the working source sheet before any cleaning began.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4864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889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815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every loan record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4864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747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673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name — needed case normalization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4864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1605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Loan_Type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4531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Home, Education or Personal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54864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46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Loan_Amount, Interest_Rate, Tenure_Years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1389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numeric inputs for EMI math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54864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5321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Application_Date &amp; Branch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8247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and branch dimensions for pivoting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508760"/>
            <a:ext cx="4892040" cy="4617720"/>
          </a:xfrm>
          <a:prstGeom prst="roundRect">
            <a:avLst>
              <a:gd name="adj" fmla="val 198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50800" dir="5400000">
              <a:srgbClr val="1E2761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SNAPSHOT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20848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loan records  •  11 columns  •  5 branches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2606040"/>
            <a:ext cx="4343400" cy="384048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26060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58200" y="2606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12680" y="26060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loan_type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95160" y="3026664"/>
            <a:ext cx="43434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30266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58200" y="30266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pooja das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12680" y="30266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95160" y="3447288"/>
            <a:ext cx="4343400" cy="384048"/>
          </a:xfrm>
          <a:prstGeom prst="rect">
            <a:avLst/>
          </a:prstGeom>
          <a:solidFill>
            <a:srgbClr val="24306B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58200" y="34472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verma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12680" y="34472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95160" y="3867912"/>
            <a:ext cx="43434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38679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58200" y="386791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 Patel  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38679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95160" y="4517136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case, stray spaces, and blank cells are typical of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Kaggle exports — the reason Step 2 exists.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Workflow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with Excel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raw field was passed through a standard cleaning pipeline before it reached the Cleaned_Data sheet.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30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ISBLANK()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missing cells (e.g. absent branch or rate) so they're fixed or excluded before analysis.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448056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9525">
            <a:solidFill>
              <a:srgbClr val="DCE3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80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=ISBLANK(B2)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10712" y="18745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9312" y="2130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39312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39312" y="2788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39312" y="315468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leading, trailing and duplicate inner spaces from names and text fields.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39312" y="448056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9525">
            <a:solidFill>
              <a:srgbClr val="DC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4480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=TRIM(B2)  →  "Pooja Das"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72784" y="18745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1384" y="2130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01384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01384" y="2788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UPPER()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01384" y="315468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categorical codes (like Branch or Loan_Type keys) into a consistent uppercase form.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01384" y="448056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9525">
            <a:solidFill>
              <a:srgbClr val="DCE3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4480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=UPPER(D2)  →  "CAR"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34856" y="18745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63456" y="2130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363456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63456" y="2788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PROPER()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63456" y="315468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Capitalizes each word of customer names for clean, presentable reporting.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63456" y="448056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9525">
            <a:solidFill>
              <a:srgbClr val="DCE3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54896" y="4480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=PROPER(B2)  →  "Pooja Das"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duplicate-free, correctly-cased, whitespace-free Cleaned_Data sheet — the single source of truth for every pivot and chart that follows.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Workflow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→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Cleaned_Data: The Analysis-Ready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32688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80360" y="1600200"/>
            <a:ext cx="12344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32120" y="1600200"/>
            <a:ext cx="86868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600200"/>
            <a:ext cx="82296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9326880" cy="402336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57400"/>
            <a:ext cx="77724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L001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2057400"/>
            <a:ext cx="155448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Das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80360" y="2057400"/>
            <a:ext cx="123444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0" y="2057400"/>
            <a:ext cx="141732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750,000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32120" y="2057400"/>
            <a:ext cx="86868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82296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23760" y="2057400"/>
            <a:ext cx="128016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03920" y="2057400"/>
            <a:ext cx="137160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6,921.28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459736"/>
            <a:ext cx="93268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459736"/>
            <a:ext cx="77724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L002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25880" y="2459736"/>
            <a:ext cx="155448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Verma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80360" y="2459736"/>
            <a:ext cx="123444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0" y="2459736"/>
            <a:ext cx="141732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1,200,000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32120" y="2459736"/>
            <a:ext cx="86868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2459736"/>
            <a:ext cx="82296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23760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03920" y="2459736"/>
            <a:ext cx="137160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24,045.54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2862072"/>
            <a:ext cx="9326880" cy="402336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862072"/>
            <a:ext cx="77724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25880" y="2862072"/>
            <a:ext cx="155448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Sharma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80360" y="2862072"/>
            <a:ext cx="123444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14800" y="2862072"/>
            <a:ext cx="141732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32120" y="2862072"/>
            <a:ext cx="86868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2862072"/>
            <a:ext cx="82296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23760" y="2862072"/>
            <a:ext cx="128016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03920" y="2862072"/>
            <a:ext cx="137160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7,891.88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3264408"/>
            <a:ext cx="93268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264408"/>
            <a:ext cx="77724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L009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325880" y="3264408"/>
            <a:ext cx="155448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Gupta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80360" y="3264408"/>
            <a:ext cx="123444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114800" y="3264408"/>
            <a:ext cx="141732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450,000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532120" y="3264408"/>
            <a:ext cx="86868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3264408"/>
            <a:ext cx="82296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223760" y="3264408"/>
            <a:ext cx="128016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03920" y="3264408"/>
            <a:ext cx="137160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7,354.79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3666744"/>
            <a:ext cx="9326880" cy="402336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3666744"/>
            <a:ext cx="77724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L023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325880" y="3666744"/>
            <a:ext cx="155448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 Singh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880360" y="3666744"/>
            <a:ext cx="123444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114800" y="3666744"/>
            <a:ext cx="141732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1,500,000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532120" y="3666744"/>
            <a:ext cx="86868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400800" y="3666744"/>
            <a:ext cx="82296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223760" y="3666744"/>
            <a:ext cx="128016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503920" y="3666744"/>
            <a:ext cx="1371600" cy="402336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32,613.63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48640" y="4069080"/>
            <a:ext cx="9326880" cy="0"/>
          </a:xfrm>
          <a:prstGeom prst="line">
            <a:avLst/>
          </a:prstGeom>
          <a:noFill/>
          <a:ln w="12700">
            <a:solidFill>
              <a:srgbClr val="DCE3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4142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100 rows total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5074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5212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548640" y="5897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records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10712" y="5074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64" name="Text 62"/>
          <p:cNvSpPr/>
          <p:nvPr/>
        </p:nvSpPr>
        <p:spPr>
          <a:xfrm>
            <a:off x="3410712" y="5212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3410712" y="5897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types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272784" y="5074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67" name="Text 65"/>
          <p:cNvSpPr/>
          <p:nvPr/>
        </p:nvSpPr>
        <p:spPr>
          <a:xfrm>
            <a:off x="6272784" y="5212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6272784" y="5897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9134856" y="5074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70" name="Text 68"/>
          <p:cNvSpPr/>
          <p:nvPr/>
        </p:nvSpPr>
        <p:spPr>
          <a:xfrm>
            <a:off x="9134856" y="5212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₹86.3M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9134856" y="5897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value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Workflow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Table: Loan Portfolio by 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Loan_Type   |   Values = Sum of Loan_Amount, Sum of EMI, Sum of Total_Interest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73252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201168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874520"/>
            <a:ext cx="233172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Loan Amount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0" y="1874520"/>
            <a:ext cx="196596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EMI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1874520"/>
            <a:ext cx="242316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Total Interest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87325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13432"/>
            <a:ext cx="20116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313432"/>
            <a:ext cx="2331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24,250,000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313432"/>
            <a:ext cx="1965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396,933.12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313432"/>
            <a:ext cx="2423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23,115,382.92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8732520" cy="420624"/>
          </a:xfrm>
          <a:prstGeom prst="rect">
            <a:avLst/>
          </a:prstGeom>
          <a:solidFill>
            <a:srgbClr val="EFF3F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34056"/>
            <a:ext cx="20116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734056"/>
            <a:ext cx="2331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18,800,000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734056"/>
            <a:ext cx="1965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262,941.15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734056"/>
            <a:ext cx="2423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13,430,520.73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87325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154680"/>
            <a:ext cx="20116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154680"/>
            <a:ext cx="2331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28,050,000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154680"/>
            <a:ext cx="1965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412,173.06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154680"/>
            <a:ext cx="2423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22,577,664.44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575304"/>
            <a:ext cx="8732520" cy="420624"/>
          </a:xfrm>
          <a:prstGeom prst="rect">
            <a:avLst/>
          </a:prstGeom>
          <a:solidFill>
            <a:srgbClr val="EFF3F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75304"/>
            <a:ext cx="20116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575304"/>
            <a:ext cx="2331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15,200,000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575304"/>
            <a:ext cx="1965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301,643.29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3575304"/>
            <a:ext cx="2423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9,406,055.76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995928"/>
            <a:ext cx="8732520" cy="4206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995928"/>
            <a:ext cx="20116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3995928"/>
            <a:ext cx="2331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86,300,000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995928"/>
            <a:ext cx="1965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1,373,690.62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995928"/>
            <a:ext cx="2423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68,529,623.85</a:t>
            </a:r>
            <a:endParaRPr lang="en-US" sz="11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48640" y="3977640"/>
          <a:ext cx="11064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Workflow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Table &amp; Chart: Branch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Branch   |   Values = Count of Loan_ID, Sum of Loan_Amount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3891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137160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20240" y="1874520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Count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0" y="1874520"/>
            <a:ext cx="17373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4389120" cy="36576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58568"/>
            <a:ext cx="137160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0240" y="2258568"/>
            <a:ext cx="12801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16,150,000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24328"/>
            <a:ext cx="43891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24328"/>
            <a:ext cx="137160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20240" y="2624328"/>
            <a:ext cx="12801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0" y="2624328"/>
            <a:ext cx="17373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6,850,000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990088"/>
            <a:ext cx="4389120" cy="36576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90088"/>
            <a:ext cx="137160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20240" y="2990088"/>
            <a:ext cx="12801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0" y="2990088"/>
            <a:ext cx="17373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18,100,000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355848"/>
            <a:ext cx="43891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55848"/>
            <a:ext cx="137160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20240" y="3355848"/>
            <a:ext cx="12801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0" y="3355848"/>
            <a:ext cx="17373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17,650,000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721608"/>
            <a:ext cx="4389120" cy="36576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21608"/>
            <a:ext cx="137160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20240" y="3721608"/>
            <a:ext cx="12801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0" y="3721608"/>
            <a:ext cx="17373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13,350,000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087368"/>
            <a:ext cx="43891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087368"/>
            <a:ext cx="137160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20240" y="4087368"/>
            <a:ext cx="12801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0" y="4087368"/>
            <a:ext cx="17373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14,200,000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453128"/>
            <a:ext cx="4389120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453128"/>
            <a:ext cx="137160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920240" y="4453128"/>
            <a:ext cx="12801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00400" y="4453128"/>
            <a:ext cx="1737360" cy="3657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86,300,000</a:t>
            </a:r>
            <a:endParaRPr lang="en-US" sz="105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4709160" y="1691640"/>
          <a:ext cx="6903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Text 3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Workflow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EMI Loan Calculator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lookup-driven calculator sits on top of the cleaned dataset: find a customer's loans, load one, or key in fresh numbers manually.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24306B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loans by Customer Name from Cleaned_Data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27660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24306B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2286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93592" y="26517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Loan ID — or leave blank for manual entry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71032" y="27660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24306B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2286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26517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Inputs: Amount, Rate, Tenure, Start 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33104" y="27660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34856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24306B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7736" y="2286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17736" y="26517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formula computes Monthly EMI, Total Interest &amp; Payment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EMI FORMULA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6634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 = P × r × (1+r)ⁿ / [(1+r)ⁿ − 1]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53492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Principal   r = Monthly Interest Rate   n = Number of Monthly Payments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4343400"/>
            <a:ext cx="0" cy="1280160"/>
          </a:xfrm>
          <a:prstGeom prst="line">
            <a:avLst/>
          </a:prstGeom>
          <a:noFill/>
          <a:ln w="12700">
            <a:solidFill>
              <a:srgbClr val="DCE3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₹10,00,000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0" y="4983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(240 mo.)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5303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EMI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44000" y="5303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₹9,321.31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Workflow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→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Amortization Schedule, Month by Month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Effective Inputs — 240 rows for this example loan, recalculating instantly for any customer loaded in Step 1.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9738360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777240" cy="42062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1600200" cy="42062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874520"/>
            <a:ext cx="1783080" cy="42062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Balance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874520"/>
            <a:ext cx="1234440" cy="42062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874520"/>
            <a:ext cx="1280160" cy="42062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0" y="1874520"/>
            <a:ext cx="1280160" cy="42062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1874520"/>
            <a:ext cx="1783080" cy="42062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Balance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95144"/>
            <a:ext cx="97383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295144"/>
            <a:ext cx="77724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25880" y="2295144"/>
            <a:ext cx="160020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12-Aug-2026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0" y="2295144"/>
            <a:ext cx="178308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10,00,000.00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2295144"/>
            <a:ext cx="123444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9,321.31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0" y="2295144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1,404.65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23760" y="2295144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7,916.67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03920" y="2295144"/>
            <a:ext cx="178308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9,98,595.35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2679192"/>
            <a:ext cx="9738360" cy="384048"/>
          </a:xfrm>
          <a:prstGeom prst="rect">
            <a:avLst/>
          </a:prstGeom>
          <a:solidFill>
            <a:srgbClr val="EFF3F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679192"/>
            <a:ext cx="77724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25880" y="2679192"/>
            <a:ext cx="160020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12-Sep-2026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26080" y="2679192"/>
            <a:ext cx="178308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9,98,595.35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679192"/>
            <a:ext cx="123444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9,321.31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0" y="2679192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1,415.77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23760" y="2679192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7,905.55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03920" y="2679192"/>
            <a:ext cx="178308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9,97,179.59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063240"/>
            <a:ext cx="97383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063240"/>
            <a:ext cx="77724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325880" y="3063240"/>
            <a:ext cx="160020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12-Oct-2026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2608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9,97,179.59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3063240"/>
            <a:ext cx="123444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9,321.31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43600" y="3063240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1,426.97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23760" y="3063240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7,894.34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0392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9,95,752.62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3447288"/>
            <a:ext cx="9738360" cy="384048"/>
          </a:xfrm>
          <a:prstGeom prst="rect">
            <a:avLst/>
          </a:prstGeom>
          <a:solidFill>
            <a:srgbClr val="E4E9F5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447288"/>
            <a:ext cx="77724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325880" y="3447288"/>
            <a:ext cx="160020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26080" y="3447288"/>
            <a:ext cx="178308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09160" y="3447288"/>
            <a:ext cx="123444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43600" y="3447288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23760" y="3447288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503920" y="3447288"/>
            <a:ext cx="178308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3831336"/>
            <a:ext cx="97383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831336"/>
            <a:ext cx="77724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325880" y="3831336"/>
            <a:ext cx="160020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12-Jul-2046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926080" y="3831336"/>
            <a:ext cx="178308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9,247.13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09160" y="3831336"/>
            <a:ext cx="123444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9,321.31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43600" y="3831336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9,247.13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23760" y="3831336"/>
            <a:ext cx="128016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74.18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503920" y="3831336"/>
            <a:ext cx="1783080" cy="38404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950" dirty="0"/>
          </a:p>
        </p:txBody>
      </p:sp>
      <p:graphicFrame>
        <p:nvGraphicFramePr>
          <p:cNvPr id="53" name="Chart 0" descr=""/>
          <p:cNvGraphicFramePr/>
          <p:nvPr/>
        </p:nvGraphicFramePr>
        <p:xfrm>
          <a:off x="548640" y="4251960"/>
          <a:ext cx="110642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4" name="Text 5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Workflow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the Pivot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6F8FC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loans lead the portfolio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₹28.05M disbursed — the largest of the four loan types, ahead of Car at ₹24.25M.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6F8FC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89280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 is the busiest branch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100 loans originated here, followed closely by Lucknow at 20.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6F8FC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17880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cost tracks loan size, not just rate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loans carry ₹23.1M total interest despite lower principal than Home, reflecting longer average tenures.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6F8FC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417880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EMI logic scales cleanly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3796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amortization formula recalculates correctly for every one of the 100 loans once loaded via Loan ID.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Workflow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Messy CSV to Decision-Ready Tool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 → cleaned with ISBLANK / TRIM / UPPER / PROPER → summarized with pivot tables &amp; charts → powering a live EMI amortization calculator.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89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Workflow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2026-07-14T03:34:14Z</dcterms:created>
  <dcterms:modified xsi:type="dcterms:W3CDTF">2026-07-14T03:34:14Z</dcterms:modified>
</cp:coreProperties>
</file>